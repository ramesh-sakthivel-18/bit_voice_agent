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5" r:id="rId4"/>
    <p:sldId id="263" r:id="rId5"/>
    <p:sldId id="266" r:id="rId6"/>
    <p:sldId id="262" r:id="rId7"/>
    <p:sldId id="264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590" autoAdjust="0"/>
  </p:normalViewPr>
  <p:slideViewPr>
    <p:cSldViewPr snapToGrid="0" snapToObjects="1">
      <p:cViewPr varScale="1">
        <p:scale>
          <a:sx n="112" d="100"/>
          <a:sy n="112" d="100"/>
        </p:scale>
        <p:origin x="7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-1905000"/>
            <a:ext cx="5715000" cy="5715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4261395"/>
            <a:ext cx="8572500" cy="13370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0354" y="1259532"/>
            <a:ext cx="10331291" cy="1508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0" i="0" u="none" dirty="0">
                <a:solidFill>
                  <a:srgbClr val="1A231E"/>
                </a:solidFill>
                <a:latin typeface="Playfair Display SemiBold"/>
              </a:rPr>
              <a:t>Voice-First Multi-Agent System</a:t>
            </a:r>
            <a:r>
              <a:rPr dirty="0"/>
              <a:t>
</a:t>
            </a:r>
            <a:r>
              <a:rPr sz="5400" b="0" i="0" u="none" dirty="0">
                <a:solidFill>
                  <a:srgbClr val="1A231E"/>
                </a:solidFill>
                <a:latin typeface="Playfair Display SemiBold"/>
              </a:rPr>
              <a:t> for Tribal Producers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2958554"/>
            <a:ext cx="85725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5534A"/>
                </a:solidFill>
                <a:latin typeface="Outfit"/>
              </a:rPr>
              <a:t>A voice-based AI platform that helps tribal producers sell their products, find buyers, and access real-time market information using their own native languages.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3150" y="4594770"/>
            <a:ext cx="75628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1" u="none">
                <a:solidFill>
                  <a:srgbClr val="1A231E"/>
                </a:solidFill>
                <a:latin typeface="Playfair Display Medium"/>
              </a:rPr>
              <a:t>"Empowering tribal producers to earn more income by connecting them directly to markets through simple, natural voice conversations."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02415"/>
            <a:ext cx="11601450" cy="52741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200" b="1" dirty="0"/>
              <a:t>Problem Statement</a:t>
            </a:r>
            <a:endParaRPr lang="en-IN" sz="3200" b="1" dirty="0">
              <a:solidFill>
                <a:srgbClr val="1A231E"/>
              </a:solidFill>
              <a:latin typeface="Playfair Display Semi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7452" y="1360438"/>
            <a:ext cx="779137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Limited access to digital marketplaces.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Low digital literacy and technology adoption.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Language barriers in existing online platforms.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Dependence on middlemen for selling products.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Lack of information about market demand and prices.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Poor visibility of tribal products in wider markets.</a:t>
            </a:r>
            <a:endParaRPr lang="en-US" sz="3200" dirty="0"/>
          </a:p>
        </p:txBody>
      </p:sp>
      <p:sp>
        <p:nvSpPr>
          <p:cNvPr id="20" name="Rectangle 19"/>
          <p:cNvSpPr/>
          <p:nvPr/>
        </p:nvSpPr>
        <p:spPr>
          <a:xfrm>
            <a:off x="8588829" y="1975991"/>
            <a:ext cx="3200401" cy="3170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>
                <a:cs typeface="Times New Roman" panose="02020603050405020304" pitchFamily="18" charset="0"/>
              </a:rPr>
              <a:t>Target Beneficiaries:</a:t>
            </a:r>
            <a:endParaRPr lang="en-IN" sz="2000" dirty="0"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cs typeface="Times New Roman" panose="02020603050405020304" pitchFamily="18" charset="0"/>
              </a:rPr>
              <a:t>Tribal </a:t>
            </a:r>
            <a:r>
              <a:rPr lang="en-IN" sz="2000" dirty="0">
                <a:cs typeface="Times New Roman" panose="02020603050405020304" pitchFamily="18" charset="0"/>
              </a:rPr>
              <a:t>farmers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Forest produce collectors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Self-Help Groups (SHGs)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Tribal entrepreneurs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02415"/>
            <a:ext cx="11049148" cy="52741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450" b="0" i="0" u="none" dirty="0" smtClean="0">
                <a:solidFill>
                  <a:srgbClr val="1A231E"/>
                </a:solidFill>
                <a:latin typeface="Playfair Display SemiBold"/>
              </a:rPr>
              <a:t>How does it work</a:t>
            </a:r>
            <a:endParaRPr sz="3450" b="0" i="0" u="none" dirty="0">
              <a:solidFill>
                <a:srgbClr val="1A231E"/>
              </a:solidFill>
              <a:latin typeface="Playfair Display Semi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97452" y="1360438"/>
            <a:ext cx="105972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egistration agent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helps users onboard through voice.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roduct agent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assists in product listing and catalog creation.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agent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generates product descriptions and promotions.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arket intelligence agent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market trends and price information.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uyer matching agent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connects producers with potential buyers. 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upport agent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handles queries and assistance through voice interaction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25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51" y="1102415"/>
            <a:ext cx="11049148" cy="52741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450" b="0" i="0" u="none" dirty="0" smtClean="0">
                <a:solidFill>
                  <a:srgbClr val="1A231E"/>
                </a:solidFill>
                <a:latin typeface="Playfair Display SemiBold"/>
              </a:rPr>
              <a:t>How does it work</a:t>
            </a:r>
            <a:endParaRPr sz="3450" b="0" i="0" u="none" dirty="0">
              <a:solidFill>
                <a:srgbClr val="1A231E"/>
              </a:solidFill>
              <a:latin typeface="Playfair Display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00363" y="1335473"/>
            <a:ext cx="5388428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800" b="0" i="0" u="none" dirty="0">
                <a:solidFill>
                  <a:srgbClr val="1A23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typing. No reading. </a:t>
            </a:r>
            <a:r>
              <a:rPr sz="2800" b="0" i="0" u="none" dirty="0">
                <a:solidFill>
                  <a:srgbClr val="C455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 speak.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0511" y="1923791"/>
            <a:ext cx="9548132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400" b="1" i="0" u="none" dirty="0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effortlessly:</a:t>
            </a:r>
            <a:r>
              <a:rPr sz="2400" b="0" i="0" u="none" dirty="0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AI guides users through a spoken onboarding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511" y="2832238"/>
            <a:ext cx="9548132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400" b="1" i="0" u="none" dirty="0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products:</a:t>
            </a:r>
            <a:r>
              <a:rPr sz="2400" b="0" i="0" u="none" dirty="0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Simply describe the items to list them on the marketplace.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511" y="3740685"/>
            <a:ext cx="9548132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400" b="1" i="0" u="none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buyers:</a:t>
            </a:r>
            <a:r>
              <a:rPr sz="2400" b="0" i="0" u="none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agents automatically match products with interested buyers.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511" y="4649132"/>
            <a:ext cx="9548132" cy="3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400" b="1" i="0" u="none" dirty="0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intelligence:</a:t>
            </a:r>
            <a:r>
              <a:rPr sz="2400" b="0" i="0" u="none" dirty="0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Ask for current market prices and trends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511" y="5557578"/>
            <a:ext cx="9548132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400" b="1" i="0" u="none" dirty="0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Ongoing support:</a:t>
            </a:r>
            <a:r>
              <a:rPr sz="2400" b="0" i="0" u="none" dirty="0">
                <a:solidFill>
                  <a:srgbClr val="455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Agents answer questions and provide continuous voice assistance.</a:t>
            </a:r>
          </a:p>
        </p:txBody>
      </p:sp>
    </p:spTree>
    <p:extLst>
      <p:ext uri="{BB962C8B-B14F-4D97-AF65-F5344CB8AC3E}">
        <p14:creationId xmlns:p14="http://schemas.microsoft.com/office/powerpoint/2010/main" val="1976219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3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25498"/>
            <a:ext cx="12001499" cy="52741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0550" y="571500"/>
            <a:ext cx="11601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600" dirty="0"/>
              <a:t>Technology &amp; Innovation</a:t>
            </a:r>
            <a:endParaRPr sz="3450" b="0" i="0" u="none" dirty="0">
              <a:solidFill>
                <a:srgbClr val="1A231E"/>
              </a:solidFill>
              <a:latin typeface="Playfair Display Semi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45151" y="1316389"/>
            <a:ext cx="5423734" cy="4467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Technology Used</a:t>
            </a:r>
            <a:endParaRPr lang="en-IN" sz="2400" b="1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Agentic </a:t>
            </a:r>
            <a:r>
              <a:rPr lang="en-IN" sz="2400" dirty="0"/>
              <a:t>AI and Multi-Agent Systems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Large Language Models (LLMs)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Speech Recognition (ASR)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Text-to-Speech (TTS)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Natural Language Processing (NLP)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Retrieval-Augmented Generation (RAG)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Multilingual Conversational AI 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6642" y="1315607"/>
            <a:ext cx="6204857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Innovation</a:t>
            </a:r>
            <a:endParaRPr lang="en-IN" sz="2400" b="1" dirty="0" smtClean="0"/>
          </a:p>
          <a:p>
            <a:pPr>
              <a:lnSpc>
                <a:spcPct val="150000"/>
              </a:lnSpc>
            </a:pPr>
            <a:r>
              <a:rPr lang="en-IN" sz="2400" dirty="0"/>
              <a:t>✔ Voice-first design for low-literacy users</a:t>
            </a:r>
            <a:br>
              <a:rPr lang="en-IN" sz="2400" dirty="0"/>
            </a:br>
            <a:r>
              <a:rPr lang="en-IN" sz="2400" dirty="0"/>
              <a:t>✔ AI agents performing specialized tasks</a:t>
            </a:r>
            <a:br>
              <a:rPr lang="en-IN" sz="2400" dirty="0"/>
            </a:br>
            <a:r>
              <a:rPr lang="en-IN" sz="2400" dirty="0"/>
              <a:t>✔ Local language support</a:t>
            </a:r>
            <a:br>
              <a:rPr lang="en-IN" sz="2400" dirty="0"/>
            </a:br>
            <a:r>
              <a:rPr lang="en-IN" sz="2400" dirty="0"/>
              <a:t>✔ Transparent voice confirmation before every submission</a:t>
            </a:r>
            <a:br>
              <a:rPr lang="en-IN" sz="2400" dirty="0"/>
            </a:br>
            <a:r>
              <a:rPr lang="en-IN" sz="2400" dirty="0"/>
              <a:t>✔ Human-</a:t>
            </a:r>
            <a:r>
              <a:rPr lang="en-IN" sz="2400" dirty="0" err="1"/>
              <a:t>centered</a:t>
            </a:r>
            <a:r>
              <a:rPr lang="en-IN" sz="2400" dirty="0"/>
              <a:t> and inclusive digital commerce platform</a:t>
            </a:r>
          </a:p>
        </p:txBody>
      </p:sp>
    </p:spTree>
    <p:extLst>
      <p:ext uri="{BB962C8B-B14F-4D97-AF65-F5344CB8AC3E}">
        <p14:creationId xmlns:p14="http://schemas.microsoft.com/office/powerpoint/2010/main" val="77444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23" y="901804"/>
            <a:ext cx="11049148" cy="31974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0550" y="214307"/>
            <a:ext cx="11601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600" dirty="0"/>
              <a:t>Expected Impact</a:t>
            </a:r>
            <a:endParaRPr sz="3450" b="0" i="0" u="none" dirty="0">
              <a:solidFill>
                <a:srgbClr val="1A231E"/>
              </a:solidFill>
              <a:latin typeface="Playfair Display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1" y="1052279"/>
            <a:ext cx="1061357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Improved market access for tribal producers</a:t>
            </a:r>
            <a:r>
              <a:rPr lang="en-IN" sz="32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/>
              <a:t>Better </a:t>
            </a:r>
            <a:r>
              <a:rPr lang="en-IN" sz="3200" dirty="0"/>
              <a:t>visibility and promotion of tribal products</a:t>
            </a:r>
            <a:r>
              <a:rPr lang="en-IN" sz="32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/>
              <a:t>Increased </a:t>
            </a:r>
            <a:r>
              <a:rPr lang="en-IN" sz="3200" dirty="0"/>
              <a:t>income and livelihood opportunities</a:t>
            </a:r>
            <a:r>
              <a:rPr lang="en-IN" sz="32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/>
              <a:t>Reduced </a:t>
            </a:r>
            <a:r>
              <a:rPr lang="en-IN" sz="3200" dirty="0"/>
              <a:t>dependence on intermediaries</a:t>
            </a:r>
            <a:r>
              <a:rPr lang="en-IN" sz="32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/>
              <a:t>Higher </a:t>
            </a:r>
            <a:r>
              <a:rPr lang="en-IN" sz="3200" dirty="0"/>
              <a:t>adoption of digital commerce platforms</a:t>
            </a:r>
            <a:r>
              <a:rPr lang="en-IN" sz="32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 smtClean="0"/>
              <a:t>Strengthened </a:t>
            </a:r>
            <a:r>
              <a:rPr lang="en-IN" sz="3200" dirty="0"/>
              <a:t>tribal entrepreneurship.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43" y="4232766"/>
            <a:ext cx="11620500" cy="24619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0550" y="4451304"/>
            <a:ext cx="9983065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 dirty="0">
                <a:solidFill>
                  <a:srgbClr val="E87245"/>
                </a:solidFill>
                <a:latin typeface="Playfair Display Medium"/>
              </a:rPr>
              <a:t>The Expected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" y="4995569"/>
            <a:ext cx="10940142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400" b="0" i="0" u="none" dirty="0">
                <a:solidFill>
                  <a:srgbClr val="FAF8F5"/>
                </a:solidFill>
                <a:latin typeface="Outfit"/>
              </a:rPr>
              <a:t>By breaking down digital and linguistic barriers, we are helping tribal producers reach more customers, earn better income, and significantly improve their economic well-being through an intuitive, simple voice-based AI system.</a:t>
            </a:r>
          </a:p>
        </p:txBody>
      </p:sp>
    </p:spTree>
    <p:extLst>
      <p:ext uri="{BB962C8B-B14F-4D97-AF65-F5344CB8AC3E}">
        <p14:creationId xmlns:p14="http://schemas.microsoft.com/office/powerpoint/2010/main" val="154922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-1905000"/>
            <a:ext cx="5715000" cy="5715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45743" y="2077342"/>
            <a:ext cx="4100512" cy="1019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 u="none">
                <a:solidFill>
                  <a:srgbClr val="C4552A"/>
                </a:solidFill>
                <a:latin typeface="Playfair Display SemiBold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2862" y="3382267"/>
            <a:ext cx="44862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45534A"/>
                </a:solidFill>
                <a:latin typeface="Outfit"/>
              </a:rPr>
              <a:t>Thank you for your time and attention.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386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Outfit</vt:lpstr>
      <vt:lpstr>Playfair Display Medium</vt:lpstr>
      <vt:lpstr>Playfair Display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Student</cp:lastModifiedBy>
  <cp:revision>8</cp:revision>
  <dcterms:created xsi:type="dcterms:W3CDTF">2013-01-27T09:14:16Z</dcterms:created>
  <dcterms:modified xsi:type="dcterms:W3CDTF">2026-09-11T05:10:06Z</dcterms:modified>
  <cp:category/>
</cp:coreProperties>
</file>